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460" r:id="rId4"/>
    <p:sldId id="459" r:id="rId5"/>
    <p:sldId id="495" r:id="rId6"/>
    <p:sldId id="500" r:id="rId7"/>
    <p:sldId id="475" r:id="rId8"/>
    <p:sldId id="476" r:id="rId9"/>
    <p:sldId id="478" r:id="rId10"/>
    <p:sldId id="4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87A8-68BC-A653-90CC-56920BF62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6FB43-BD1E-FE87-7293-2677BA695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45E70-B4C8-EFC3-71D8-1E050DE69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538A2-6201-73AA-C90E-D0DDBBF5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1C29-3FA3-789F-5605-B4C07829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07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308A-B008-9A1E-8304-97B4E77D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4BADC-1BCC-D336-27D4-D991707E6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3B7FE-FCF3-54EE-4DF4-942C73A5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E7139-CFD8-C117-A978-EB43E29F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EA259-6C8C-DAF6-EB34-19F89B15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82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0021-5F7E-072F-5CCF-2FD5471F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84B71-C28F-2745-7FEF-1E7F573C5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01A47-BA64-BD97-76AC-4A906936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B6B4-0676-4161-28D4-0BFED513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84674-5FC3-0BC8-C74C-BAF82D0A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212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2ED2-5BE7-CE79-96A3-0D25CB81A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9E27-73A6-C1D9-AC7F-8D2B4D5C8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EBF3D-33F6-B7FE-3D34-C8738087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CCB12-637E-E0B4-754D-55A7CCF0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29D77-CD45-E302-1477-C0C87C528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15760-5A4F-E6AC-360B-B0FAF10F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26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0CF8-EB7B-995C-90DB-6C105883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A3FB3-8608-54F2-3DFE-463FD82C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0738C-2DF8-FB8D-62EA-0A3F9BC6F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037A7-3D7F-1C37-F911-FDE0B2D85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E2A51-9EB5-CA5E-4109-D7756061C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056EF-F9B2-1356-6FC6-F80DC4B3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DC2D6-45E4-EDB3-BD69-841FFCD3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9FB8EC-6C7B-26C0-0337-7C0E98E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67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FBC6-BE54-3964-6B90-D4417D27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C4A0F-D272-6800-7ACF-E459405A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F59EF-470E-2265-D2A0-0C80179C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BE25D-E43F-3670-5991-5BB14538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57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9FC00-E36F-1C58-9DD5-AF53C228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70820-B648-3ACC-BD0B-1870BE76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028C6-2731-C2D9-CD39-FD020019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29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C5C1-E4B3-96A6-88A2-B98822F0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249B0-8CA8-B392-7342-9E2CD99BF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9A319-C924-BE45-0B66-620F57211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3C174-662D-1354-8989-399B73E2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BF820-F454-6155-344E-2D0E5D18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6EB4D-D94A-0E10-CC03-4B8642A51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D98C-DF6D-EA2A-FEC6-82FACDAE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4F553-CCEC-27B1-9200-5020329E6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C13FE-9C92-C72D-7BC2-2A84BCFD9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1AE3E-3BCB-F624-5CCB-788C53E5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8F055-65DD-347F-18AC-C2E11690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B9365-F016-4C4D-2F8C-C09CD303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97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EA71-B3CC-F484-5542-C46CA2C1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5BF9E-11F4-1784-138D-ED93EB233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77761-0B5A-7986-25C0-1694E5C9A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66674-919C-0874-6330-C5B6AE9A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7CACB-6006-086C-2FDC-CEEF82A3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90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8F0FBF-6A95-F323-2AAA-03BAC7D1E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4DE7A-A37D-090E-01C1-202C86DB0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C3F3A-9025-CE9A-4823-5B06FB4A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CAEA7-A1AB-FE64-EF5E-E4DFE30D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9EA2F-7775-3357-A63F-456D77A0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40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39222-7D76-2E4C-20C2-0C225938F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38774-5C52-7D80-388C-41896CE52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DAE78-6F65-9335-C822-81BE60585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0FB96-6043-477F-B271-9B18DD28CD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9F667-3CBA-B3E1-8BA8-2144D9F71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9A534-35AF-9B66-064E-69F4D3DF6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A70CD-E4FD-4FEA-BC11-9F5ECFCCB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90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56rmx5bjcr?utm_source=chatgpt.com" TargetMode="External"/><Relationship Id="rId2" Type="http://schemas.openxmlformats.org/officeDocument/2006/relationships/hyperlink" Target="https://nda.nih.gov/general-query.html?q=query=featured-datasets:Osteoarthritis+Initiative+(OAI)&amp;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yaufan/Knee_Segmentation_Database" TargetMode="External"/><Relationship Id="rId4" Type="http://schemas.openxmlformats.org/officeDocument/2006/relationships/hyperlink" Target="https://www.kaggle.com/datasets/shashwatwork/knee-osteoarthritis-dataset-with-severity/data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bone-finder.com/" TargetMode="External"/><Relationship Id="rId2" Type="http://schemas.openxmlformats.org/officeDocument/2006/relationships/hyperlink" Target="https://github.com/yaufan/Knee_Segmentation_Database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027B8-6821-51B2-F355-FE4205C18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FC879-884D-0F34-68DF-01ADABF28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541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7CAA-5C00-9DEC-31C6-3B205095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89588-5A9B-4408-26C9-E52AF6BB0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43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368631"/>
            <a:ext cx="9753600" cy="1143000"/>
          </a:xfrm>
        </p:spPr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Integrated AI Framework for Knee Osteoarthritis Assessment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8A444-581C-4B54-A54A-B2D08887D27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Content Placeholder 9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9"/>
          <a:stretch/>
        </p:blipFill>
        <p:spPr>
          <a:xfrm>
            <a:off x="1478110" y="1452640"/>
            <a:ext cx="8822708" cy="5413673"/>
          </a:xfrm>
        </p:spPr>
      </p:pic>
    </p:spTree>
    <p:extLst>
      <p:ext uri="{BB962C8B-B14F-4D97-AF65-F5344CB8AC3E}">
        <p14:creationId xmlns:p14="http://schemas.microsoft.com/office/powerpoint/2010/main" val="1419971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2"/>
          <a:stretch/>
        </p:blipFill>
        <p:spPr>
          <a:xfrm>
            <a:off x="1" y="0"/>
            <a:ext cx="12090400" cy="68580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Integrated AI Framework for Knee Osteoarthritis Assessment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8A444-581C-4B54-A54A-B2D08887D27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991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041" y="1219675"/>
            <a:ext cx="11044845" cy="1143000"/>
          </a:xfrm>
        </p:spPr>
        <p:txBody>
          <a:bodyPr>
            <a:normAutofit/>
          </a:bodyPr>
          <a:lstStyle/>
          <a:p>
            <a:r>
              <a:rPr lang="en-US" sz="3200" dirty="0"/>
              <a:t>Mapping of Research Objectives to Methodology and Evaluation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659218" y="2466752"/>
          <a:ext cx="10886668" cy="4053511"/>
        </p:xfrm>
        <a:graphic>
          <a:graphicData uri="http://schemas.openxmlformats.org/drawingml/2006/table">
            <a:tbl>
              <a:tblPr/>
              <a:tblGrid>
                <a:gridCol w="1874318">
                  <a:extLst>
                    <a:ext uri="{9D8B030D-6E8A-4147-A177-3AD203B41FA5}">
                      <a16:colId xmlns:a16="http://schemas.microsoft.com/office/drawing/2014/main" val="3567171268"/>
                    </a:ext>
                  </a:extLst>
                </a:gridCol>
                <a:gridCol w="1789974">
                  <a:extLst>
                    <a:ext uri="{9D8B030D-6E8A-4147-A177-3AD203B41FA5}">
                      <a16:colId xmlns:a16="http://schemas.microsoft.com/office/drawing/2014/main" val="233276934"/>
                    </a:ext>
                  </a:extLst>
                </a:gridCol>
                <a:gridCol w="2349146">
                  <a:extLst>
                    <a:ext uri="{9D8B030D-6E8A-4147-A177-3AD203B41FA5}">
                      <a16:colId xmlns:a16="http://schemas.microsoft.com/office/drawing/2014/main" val="1440316134"/>
                    </a:ext>
                  </a:extLst>
                </a:gridCol>
                <a:gridCol w="1474465">
                  <a:extLst>
                    <a:ext uri="{9D8B030D-6E8A-4147-A177-3AD203B41FA5}">
                      <a16:colId xmlns:a16="http://schemas.microsoft.com/office/drawing/2014/main" val="2561904667"/>
                    </a:ext>
                  </a:extLst>
                </a:gridCol>
                <a:gridCol w="3398765">
                  <a:extLst>
                    <a:ext uri="{9D8B030D-6E8A-4147-A177-3AD203B41FA5}">
                      <a16:colId xmlns:a16="http://schemas.microsoft.com/office/drawing/2014/main" val="2024102383"/>
                    </a:ext>
                  </a:extLst>
                </a:gridCol>
              </a:tblGrid>
              <a:tr h="3836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Research Objective</a:t>
                      </a:r>
                    </a:p>
                  </a:txBody>
                  <a:tcPr marL="9448" marR="9448" marT="94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9448" marR="9448" marT="94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Key Methods / Techniques</a:t>
                      </a:r>
                    </a:p>
                  </a:txBody>
                  <a:tcPr marL="9448" marR="9448" marT="94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9448" marR="9448" marT="94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Evaluation Parameters / Validation</a:t>
                      </a:r>
                    </a:p>
                  </a:txBody>
                  <a:tcPr marL="9448" marR="9448" marT="94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572462"/>
                  </a:ext>
                </a:extLst>
              </a:tr>
              <a:tr h="85248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effectLst/>
                          <a:latin typeface="Times New Roman" panose="02020603050405020304" pitchFamily="18" charset="0"/>
                        </a:rPr>
                        <a:t>Objective 1: Automated Segmentation of Knee Joint Anatomy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Knee X-ray radiographs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effectLst/>
                          <a:latin typeface="Times New Roman" panose="02020603050405020304" pitchFamily="18" charset="0"/>
                        </a:rPr>
                        <a:t>Semantic; Evolutionary algorithms with </a:t>
                      </a:r>
                      <a:r>
                        <a:rPr lang="en-US" sz="1200" b="0" i="0" u="none" strike="noStrike" dirty="0" err="1">
                          <a:effectLst/>
                          <a:latin typeface="Times New Roman" panose="02020603050405020304" pitchFamily="18" charset="0"/>
                        </a:rPr>
                        <a:t>Kapur</a:t>
                      </a:r>
                      <a:r>
                        <a:rPr lang="en-US" sz="1200" b="0" i="0" u="none" strike="noStrike" dirty="0">
                          <a:effectLst/>
                          <a:latin typeface="Times New Roman" panose="02020603050405020304" pitchFamily="18" charset="0"/>
                        </a:rPr>
                        <a:t>/Otsu objective functions; Swarm-based methods such as PSO/ACO; Quantum-inspired </a:t>
                      </a:r>
                      <a:r>
                        <a:rPr lang="en-US" sz="1200" b="0" i="0" u="none" strike="noStrike" dirty="0" err="1">
                          <a:effectLst/>
                          <a:latin typeface="Times New Roman" panose="02020603050405020304" pitchFamily="18" charset="0"/>
                        </a:rPr>
                        <a:t>QudGA</a:t>
                      </a:r>
                      <a:endParaRPr lang="en-US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Validated anatomical segmentation and best-performing segmentation strategy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Dice coefficient, IoU, Boundary Accuracy; paired statistical testing and/or bootstrap resampling for small expert set; subgroup analysis where applicable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361781"/>
                  </a:ext>
                </a:extLst>
              </a:tr>
              <a:tr h="85248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Objective 2: Automated Structural Biomarker Extraction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Best segmentation from Objective 1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effectLst/>
                          <a:latin typeface="Times New Roman" panose="02020603050405020304" pitchFamily="18" charset="0"/>
                        </a:rPr>
                        <a:t>rule-based or trained classification for KL 0–4,;Anatomical landmarks; geometric calculation for FTA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effectLst/>
                          <a:latin typeface="Times New Roman" panose="02020603050405020304" pitchFamily="18" charset="0"/>
                        </a:rPr>
                        <a:t>Validated FTA and KL grade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KL: Accuracy, weighted Cohen's </a:t>
                      </a:r>
                      <a:r>
                        <a:rPr lang="el-GR" sz="1200" b="0" i="0" u="none" strike="noStrike">
                          <a:effectLst/>
                          <a:latin typeface="Times New Roman" panose="02020603050405020304" pitchFamily="18" charset="0"/>
                        </a:rPr>
                        <a:t>κ, </a:t>
                      </a:r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confusion matrix. Additional error attribution using expert/ground-truth segmentation control and correlation with segmentation quality.,FTA: MAE, RMSE, Bland–Altman analysis. 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7"/>
                  </a:ext>
                </a:extLst>
              </a:tr>
              <a:tr h="102008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Objective 3: Integrated TKA Risk Prediction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Validated KL + FTA + age, sex, BMI, pain/functional scores, physical activity, prior injury/surgery + longitudinal TKA outcome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Cox Proportional Hazards as primary interpretable model; optional Random Survival Forest; three models: radiological-only, clinical-only, combined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Validated future TKA risk / time-to-TKA prediction model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C-index, time-dependent AUC, calibration plots, Kaplan–Meier curves, bootstrap confidence intervals; comparison of radiological-only vs clinical-only vs integrated model.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565745"/>
                  </a:ext>
                </a:extLst>
              </a:tr>
              <a:tr h="802114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Objective 4: Explainable and Interpretable Risk Prediction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Validated TKA-risk model from Objective 3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SHAP / LIME; feature contribution analysis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effectLst/>
                          <a:latin typeface="Times New Roman" panose="02020603050405020304" pitchFamily="18" charset="0"/>
                        </a:rPr>
                        <a:t>Patient-specific and population-level explanations of TKA risk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effectLst/>
                          <a:latin typeface="Times New Roman" panose="02020603050405020304" pitchFamily="18" charset="0"/>
                        </a:rPr>
                        <a:t>Feature contribution consistency, clinical plausibility, agreement with established medical understanding, and expert/clinician feedback on usefulness and trustworthiness.</a:t>
                      </a:r>
                    </a:p>
                  </a:txBody>
                  <a:tcPr marL="9448" marR="9448" marT="944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688391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Integrated AI Framework for Knee Osteoarthritis Assessment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8A444-581C-4B54-A54A-B2D08887D27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16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9971" y="1354889"/>
            <a:ext cx="4838995" cy="1143000"/>
          </a:xfrm>
        </p:spPr>
        <p:txBody>
          <a:bodyPr/>
          <a:lstStyle/>
          <a:p>
            <a:r>
              <a:rPr lang="en-US" dirty="0"/>
              <a:t>Expert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1807" y="2785731"/>
            <a:ext cx="5955322" cy="20117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Segmentation: Anatomical masks  </a:t>
            </a:r>
          </a:p>
          <a:p>
            <a:pPr marL="0" indent="0">
              <a:buNone/>
            </a:pPr>
            <a:r>
              <a:rPr lang="en-US" dirty="0"/>
              <a:t>FTA: Expert angle measurement  </a:t>
            </a:r>
          </a:p>
          <a:p>
            <a:pPr marL="0" indent="0">
              <a:buNone/>
            </a:pPr>
            <a:r>
              <a:rPr lang="en-US" dirty="0"/>
              <a:t>KL: Expert grade 0–4    </a:t>
            </a:r>
          </a:p>
          <a:p>
            <a:pPr marL="0" indent="0">
              <a:buNone/>
            </a:pPr>
            <a:r>
              <a:rPr lang="en-US"/>
              <a:t>Reliability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Integrated AI Framework for Knee Osteoarthritis Assessment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8A444-581C-4B54-A54A-B2D08887D27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581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0204" y="1184768"/>
            <a:ext cx="1651591" cy="431381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8413" y="1818167"/>
            <a:ext cx="8155172" cy="434463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/>
              <a:t>*/ Master Repository </a:t>
            </a:r>
          </a:p>
          <a:p>
            <a:r>
              <a:rPr lang="en-US" b="1" dirty="0"/>
              <a:t>Direct repository</a:t>
            </a:r>
          </a:p>
          <a:p>
            <a:pPr lvl="1"/>
            <a:r>
              <a:rPr lang="en-US" b="1" dirty="0"/>
              <a:t>Official NIH/NDA OAI repository:</a:t>
            </a:r>
            <a:br>
              <a:rPr lang="en-US" dirty="0"/>
            </a:br>
            <a:r>
              <a:rPr lang="en-US" dirty="0">
                <a:hlinkClick r:id="rId2"/>
              </a:rPr>
              <a:t>Osteoarthritis Initiative — NIH/NDA</a:t>
            </a:r>
            <a:endParaRPr lang="en-US" dirty="0"/>
          </a:p>
          <a:p>
            <a:r>
              <a:rPr lang="en-US" b="1" dirty="0"/>
              <a:t>Existing image/KL derivative: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linkClick r:id="rId3"/>
              </a:rPr>
              <a:t>Knee Osteoarthritis Severity Grading Dataset — </a:t>
            </a:r>
            <a:r>
              <a:rPr lang="en-US" dirty="0" err="1">
                <a:hlinkClick r:id="rId3"/>
              </a:rPr>
              <a:t>Mendeley</a:t>
            </a:r>
            <a:r>
              <a:rPr lang="en-US" dirty="0">
                <a:hlinkClick r:id="rId3"/>
              </a:rPr>
              <a:t> 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/*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Used Repository from Master Repository</a:t>
            </a:r>
          </a:p>
          <a:p>
            <a:r>
              <a:rPr lang="en-US" b="1" dirty="0" err="1">
                <a:solidFill>
                  <a:srgbClr val="00B050"/>
                </a:solidFill>
              </a:rPr>
              <a:t>Kaggle</a:t>
            </a:r>
            <a:r>
              <a:rPr lang="en-US" b="1" dirty="0">
                <a:solidFill>
                  <a:srgbClr val="00B050"/>
                </a:solidFill>
              </a:rPr>
              <a:t> version :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	</a:t>
            </a:r>
            <a:r>
              <a:rPr lang="en-US" dirty="0">
                <a:solidFill>
                  <a:srgbClr val="00B050"/>
                </a:solidFill>
                <a:hlinkClick r:id="rId4"/>
              </a:rPr>
              <a:t>Knee Osteoarthritis Dataset with Severity Grading — </a:t>
            </a:r>
            <a:r>
              <a:rPr lang="en-US" dirty="0" err="1">
                <a:solidFill>
                  <a:srgbClr val="00B050"/>
                </a:solidFill>
                <a:hlinkClick r:id="rId4"/>
              </a:rPr>
              <a:t>Kaggle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Reference Ground Truth Mask</a:t>
            </a:r>
            <a:r>
              <a:rPr lang="en-US" dirty="0">
                <a:solidFill>
                  <a:srgbClr val="00B050"/>
                </a:solidFill>
              </a:rPr>
              <a:t> for UNET 	</a:t>
            </a:r>
            <a:r>
              <a:rPr lang="en-US" u="sng" dirty="0">
                <a:solidFill>
                  <a:srgbClr val="00B050"/>
                </a:solidFill>
                <a:hlinkClick r:id="rId5"/>
              </a:rPr>
              <a:t>https://github.com/yaufan/Knee_Segmentation_Database</a:t>
            </a:r>
            <a:r>
              <a:rPr lang="en-US" dirty="0">
                <a:solidFill>
                  <a:srgbClr val="00B050"/>
                </a:solidFill>
              </a:rPr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Integrated AI Framework for Knee Osteoarthritis Assessment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8A444-581C-4B54-A54A-B2D08887D27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91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50734" y="627320"/>
            <a:ext cx="7031665" cy="79031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Knee Osteoarthritis Dataset with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Grading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Population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Osteoarthritis Initiative (OAI)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prospective, longitudinal, multi center observational study.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9500+XRAY images (Left and Right Knee)  ,4,796 participants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approximately 45–79 years at enrolment.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knees with established OA and knees at risk of developing OA.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assessments over several years enable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cross-sectional and longitudinal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Modalities Used in Research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Radiographic / Imaging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Weight-bearing knee radiographs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 grade: 0–4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Radiographs linked to participant, knee laterality and visit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/ Demographic Data in .CSV file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and functional scores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knee injury/surgery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Integrated AI Framework for Knee Osteoarthritis Assessment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8A444-581C-4B54-A54A-B2D08887D27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86" y="1686993"/>
            <a:ext cx="859733" cy="4224709"/>
          </a:xfrm>
          <a:prstGeom prst="rect">
            <a:avLst/>
          </a:prstGeom>
        </p:spPr>
      </p:pic>
      <p:pic>
        <p:nvPicPr>
          <p:cNvPr id="18" name="Content Placeholder 1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23937" y="1686993"/>
            <a:ext cx="923810" cy="422470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689" y="1686993"/>
            <a:ext cx="883997" cy="420660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805" y="1696519"/>
            <a:ext cx="885714" cy="421518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615" y="1696519"/>
            <a:ext cx="923810" cy="421518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29507" y="5959794"/>
            <a:ext cx="272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 KL 0- KL 4</a:t>
            </a:r>
          </a:p>
        </p:txBody>
      </p:sp>
    </p:spTree>
    <p:extLst>
      <p:ext uri="{BB962C8B-B14F-4D97-AF65-F5344CB8AC3E}">
        <p14:creationId xmlns:p14="http://schemas.microsoft.com/office/powerpoint/2010/main" val="320007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Integrated AI Framework for Knee Osteoarthritis Assessment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8A444-581C-4B54-A54A-B2D08887D27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9" y="1416716"/>
            <a:ext cx="12104762" cy="5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7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011" y="1061423"/>
            <a:ext cx="7047978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Knee Segmentation Database with Mask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Integrated AI Framework for Knee Osteoarthritis Assessment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8A444-581C-4B54-A54A-B2D08887D27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609600" y="2054268"/>
            <a:ext cx="5384800" cy="407189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CGMH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Knee_Segmentation_Database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 Ground Truth Mask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UNET based segmentation ,can be useful in FTA calculation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https://github.com/yaufan/Knee_Segmentation_Database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Knee X-ray image data and corresponding Femur and Tibia segmentation information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includes anteroposterior knee radiograph assessments of 400 participants in Chang Gung Memorial Hospital.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Femur and Tibia segmentation information was determined by using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BoneFinder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 by author of the database (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http://bone-finder.com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for Image size: (1300 ~ 3400) x (800 ~ 2500)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type: PNG (8 Bit).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Images Channel: 3.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Images Channel: 1.</a:t>
            </a:r>
          </a:p>
          <a:p>
            <a:endParaRPr lang="en-US" dirty="0"/>
          </a:p>
        </p:txBody>
      </p:sp>
      <p:pic>
        <p:nvPicPr>
          <p:cNvPr id="11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285238" y="2434610"/>
            <a:ext cx="5209524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3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700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Methodology </vt:lpstr>
      <vt:lpstr>PowerPoint Presentation</vt:lpstr>
      <vt:lpstr>Mapping of Research Objectives to Methodology and Evaluation</vt:lpstr>
      <vt:lpstr>Expert Collaboration</vt:lpstr>
      <vt:lpstr>Dataset</vt:lpstr>
      <vt:lpstr>Knee Osteoarthritis Dataset with  Severity Grading </vt:lpstr>
      <vt:lpstr>PowerPoint Presentation</vt:lpstr>
      <vt:lpstr>Knee Segmentation Database with Mask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Jadhav</dc:creator>
  <cp:lastModifiedBy>Rahul Jadhav</cp:lastModifiedBy>
  <cp:revision>1</cp:revision>
  <dcterms:created xsi:type="dcterms:W3CDTF">2026-09-18T11:40:52Z</dcterms:created>
  <dcterms:modified xsi:type="dcterms:W3CDTF">2026-09-18T14:03:45Z</dcterms:modified>
</cp:coreProperties>
</file>